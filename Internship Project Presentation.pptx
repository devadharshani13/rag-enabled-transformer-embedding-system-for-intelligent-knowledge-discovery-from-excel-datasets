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4" r:id="rId2"/>
    <p:sldId id="256" r:id="rId3"/>
    <p:sldId id="257" r:id="rId4"/>
    <p:sldId id="258" r:id="rId5"/>
    <p:sldId id="259" r:id="rId6"/>
    <p:sldId id="263" r:id="rId7"/>
    <p:sldId id="260" r:id="rId8"/>
    <p:sldId id="261" r:id="rId9"/>
    <p:sldId id="262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473C40-B860-512F-1110-51097089EF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8F4E975-99EE-9892-5335-CC2191E1A6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49BC4E-09BB-EE7E-1987-F545DBCF2B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E88B4E-63C3-4FED-8C80-78A50B2692BB}" type="datetimeFigureOut">
              <a:rPr lang="en-IN" smtClean="0"/>
              <a:t>28-03-2026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61D577-5B1C-5B0D-8534-29372F6770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4D8C72-D8B8-6E33-4DFC-5CAF1B1C4D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3F704-58DD-4EF8-B07D-71C618D82B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91764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D8F704-2611-1567-9029-BDDF469D35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AC970B-C75B-B574-8094-AB05362E36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F2A903-7045-D1DD-7142-1739F66AB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E88B4E-63C3-4FED-8C80-78A50B2692BB}" type="datetimeFigureOut">
              <a:rPr lang="en-IN" smtClean="0"/>
              <a:t>28-03-2026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EFBF41-5BB3-7CF6-FFC9-577CC0A6A9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A3A166-FA72-4B93-657A-9B0290981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3F704-58DD-4EF8-B07D-71C618D82B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42757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01DAB3-03EA-4E84-C9FA-656F2FFDD6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442FA0-9806-2652-F4BA-75A9A355EA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A2B68F-10F7-C1A7-6104-CA90371245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E88B4E-63C3-4FED-8C80-78A50B2692BB}" type="datetimeFigureOut">
              <a:rPr lang="en-IN" smtClean="0"/>
              <a:t>28-03-2026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740F28-8B54-353C-227B-C526AC2101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35B59B-49A2-6D79-CF0C-67EDF7378B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3F704-58DD-4EF8-B07D-71C618D82B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93970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FCEF08-39A6-561B-FDD5-B971B77024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65DD89-ADE3-5472-CBB3-35D72BE1085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675722-BC4C-107D-D05A-873858E51C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DB92C4-7DF2-2E12-D22E-6B23270965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E88B4E-63C3-4FED-8C80-78A50B2692BB}" type="datetimeFigureOut">
              <a:rPr lang="en-IN" smtClean="0"/>
              <a:t>28-03-2026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C1E19C-733E-AF63-0F94-F114FF3270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65D612-7E2E-692B-EA89-ECA42A3F64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3F704-58DD-4EF8-B07D-71C618D82B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21897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310F56-F0E4-C074-6552-D8BCCB8BEB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3CEA50-3BC8-1C8A-24ED-88CE449051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E3A275-1E1D-2FA1-649B-4B92FAEF67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01DCFB7-8416-7D63-0D30-14AC0E82A6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EEA38A7-298B-ADCC-ABEB-31215F544D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6828640-D7EF-715F-60F3-5BB85D40AF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E88B4E-63C3-4FED-8C80-78A50B2692BB}" type="datetimeFigureOut">
              <a:rPr lang="en-IN" smtClean="0"/>
              <a:t>28-03-2026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09F3D39-0CC0-DDE5-809C-6A7479A072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5590605-6BBB-61E3-9349-477455D759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3F704-58DD-4EF8-B07D-71C618D82B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46485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FE2DB9-9BFD-063F-A971-3DF47EF933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764ABBA-220B-3340-A93E-687A5A9923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E88B4E-63C3-4FED-8C80-78A50B2692BB}" type="datetimeFigureOut">
              <a:rPr lang="en-IN" smtClean="0"/>
              <a:t>28-03-2026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9913882-99CC-6857-6D01-1C2E674E0B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69240BF-3479-D8B9-1939-72CB527A8F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3F704-58DD-4EF8-B07D-71C618D82B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2602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D6A157B-7881-89A8-E328-D41C48819E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E88B4E-63C3-4FED-8C80-78A50B2692BB}" type="datetimeFigureOut">
              <a:rPr lang="en-IN" smtClean="0"/>
              <a:t>28-03-2026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1789AAE-0523-4D00-E719-A574FA5732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FF3B8B-0A46-AC65-5877-3D864F0766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3F704-58DD-4EF8-B07D-71C618D82B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6521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F76C2C-BC44-0EBB-FB60-94EA475FEB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A0DF9C-79CF-923E-90AE-1FC0CB4FAD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4EC1A9D-9FAA-9149-3F90-FA3CF8B684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30494D-1DA1-009B-90A7-12FC92BEA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E88B4E-63C3-4FED-8C80-78A50B2692BB}" type="datetimeFigureOut">
              <a:rPr lang="en-IN" smtClean="0"/>
              <a:t>28-03-2026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12E645-1FB5-CB39-4A97-07DC0CD94B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1621BF-F5C8-A053-8FB0-260985C8C5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3F704-58DD-4EF8-B07D-71C618D82B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3204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AD736F-05AE-FA09-D3C9-6CCAE1A4F5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990949B-8D84-3E58-FFD4-3FA44A909BE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5A3925-A9B9-2ABC-0A2F-D38135358C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37CCDD-69FE-EF13-4B79-51709ECC51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E88B4E-63C3-4FED-8C80-78A50B2692BB}" type="datetimeFigureOut">
              <a:rPr lang="en-IN" smtClean="0"/>
              <a:t>28-03-2026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EE3118-256C-0858-8A5A-95932C7ADE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6EDDB5-2F2A-CF6C-BE00-69CCA9B11B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3F704-58DD-4EF8-B07D-71C618D82B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63652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185F12-8EDB-8FC7-7D1E-460C06DDE5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3748231-FDE2-DAD5-F5A5-EE3C238AFB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29D8AA-F465-DD22-0C07-1B28542B91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E88B4E-63C3-4FED-8C80-78A50B2692BB}" type="datetimeFigureOut">
              <a:rPr lang="en-IN" smtClean="0"/>
              <a:t>28-03-2026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124A92-065B-2341-4464-9B5933999D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77FBB8-ED48-11B5-526C-D324B3FE71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3F704-58DD-4EF8-B07D-71C618D82B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60491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8F7BE2B-688B-A5D5-C880-B330AA3C28F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ABA90D8-B128-436A-8F54-7E38CBBA80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C10315-FA55-599E-834F-F54238E5BA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E88B4E-63C3-4FED-8C80-78A50B2692BB}" type="datetimeFigureOut">
              <a:rPr lang="en-IN" smtClean="0"/>
              <a:t>28-03-2026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0EB583-14DF-AC5A-870F-B6142B4128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63A00C-9700-450D-EA08-61EA70D0AD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3F704-58DD-4EF8-B07D-71C618D82B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87499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DC0674C-EB5E-BA66-1ED1-37C7A307F8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EF6D15-5B2F-7C92-CC04-B43AA0C9B9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C765F4-C2BE-01EC-2C0C-2AFCAEF8B38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E88B4E-63C3-4FED-8C80-78A50B2692BB}" type="datetimeFigureOut">
              <a:rPr lang="en-IN" smtClean="0"/>
              <a:t>28-03-2026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07BCC4-9D33-0557-641E-FA820ABCB52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A1DDFA-E07C-5918-150F-1357B17BD7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A3F704-58DD-4EF8-B07D-71C618D82B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61161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drive.google.com/drive/folders/162DS-9GO93HZHb6BsHi2iREF2oodOkbz?usp=sharing" TargetMode="External"/><Relationship Id="rId5" Type="http://schemas.openxmlformats.org/officeDocument/2006/relationships/hyperlink" Target="https://github.com/Devadharshani13/RAG-Enabled-Transformer-Embedding-System-for-Intelligent-Knowledge-Discovery-from-Excel-Datasets" TargetMode="Externa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8044973-C4F2-316C-69A2-DA116F93DE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6BD97B9-74C7-EA51-85F6-3B8A05D6E0B3}"/>
              </a:ext>
            </a:extLst>
          </p:cNvPr>
          <p:cNvSpPr txBox="1"/>
          <p:nvPr/>
        </p:nvSpPr>
        <p:spPr>
          <a:xfrm>
            <a:off x="6949440" y="2254717"/>
            <a:ext cx="5242560" cy="24929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2800" b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Internship Organization:</a:t>
            </a:r>
            <a:br>
              <a:rPr lang="en-US" sz="18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</a:br>
            <a:r>
              <a:rPr lang="en-US" sz="18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Bits N' Bytes Cybersecurity Education, USA</a:t>
            </a:r>
            <a:endParaRPr lang="en-IN" sz="1800" dirty="0">
              <a:solidFill>
                <a:schemeClr val="bg1"/>
              </a:solidFill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  <a:p>
            <a:pPr algn="ctr">
              <a:buNone/>
            </a:pPr>
            <a:r>
              <a:rPr lang="en-US" sz="2800" b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Prepared By: </a:t>
            </a:r>
            <a:r>
              <a:rPr lang="en-US" sz="28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Devadharshani B</a:t>
            </a:r>
            <a:br>
              <a:rPr lang="en-US" sz="2800" b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</a:br>
            <a:r>
              <a:rPr lang="en-US" sz="2800" b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Trainer: 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Vidya Bharadwaj</a:t>
            </a:r>
            <a:endParaRPr lang="en-US" sz="2800" dirty="0">
              <a:solidFill>
                <a:schemeClr val="bg1"/>
              </a:solidFill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  <a:p>
            <a:pPr algn="ctr"/>
            <a:r>
              <a:rPr lang="en-US" i="1" dirty="0">
                <a:solidFill>
                  <a:schemeClr val="bg1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February 2026 – March 2026</a:t>
            </a:r>
            <a:endParaRPr lang="en-IN" dirty="0">
              <a:solidFill>
                <a:schemeClr val="bg1"/>
              </a:solidFill>
              <a:latin typeface="Times New Roman" panose="02020603050405020304" pitchFamily="18" charset="0"/>
              <a:ea typeface="SimSun" panose="02010600030101010101" pitchFamily="2" charset="-122"/>
            </a:endParaRPr>
          </a:p>
          <a:p>
            <a:pPr algn="ctr">
              <a:buNone/>
            </a:pPr>
            <a:endParaRPr lang="en-IN" sz="1800" dirty="0">
              <a:solidFill>
                <a:schemeClr val="bg1"/>
              </a:solidFill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  <a:p>
            <a:pPr algn="ctr">
              <a:buNone/>
            </a:pPr>
            <a:r>
              <a:rPr lang="en-US" sz="18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 </a:t>
            </a:r>
            <a:endParaRPr lang="en-IN" sz="1800" dirty="0">
              <a:solidFill>
                <a:schemeClr val="bg1"/>
              </a:solidFill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5E5D775-0ACB-5D6F-6D05-AA95FB8BC048}"/>
              </a:ext>
            </a:extLst>
          </p:cNvPr>
          <p:cNvCxnSpPr>
            <a:cxnSpLocks/>
          </p:cNvCxnSpPr>
          <p:nvPr/>
        </p:nvCxnSpPr>
        <p:spPr>
          <a:xfrm>
            <a:off x="7118844" y="216591"/>
            <a:ext cx="82296" cy="612648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544785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>
            <a:extLst>
              <a:ext uri="{FF2B5EF4-FFF2-40B4-BE49-F238E27FC236}">
                <a16:creationId xmlns:a16="http://schemas.microsoft.com/office/drawing/2014/main" id="{736020C4-87E4-7F1B-22E6-8AB2E127F5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289" y="329184"/>
            <a:ext cx="1036320" cy="11843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ADA964B7-A1BE-2A31-EF07-17E8D8299BEE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1261872" y="459702"/>
            <a:ext cx="6135624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ctr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6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Project Introduction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70F6C19-1C33-8E6F-3592-A873956006FD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399289" y="1584457"/>
            <a:ext cx="3075813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ctr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Core Project Overview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1BFEA0E-0932-A3BE-6EC2-430037CF34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0049" y="1865376"/>
            <a:ext cx="4752975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t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Advanced RAG-Enabled Transformer Embedding System designed for intelligent knowledge discovery and analysis from Excel datasets efficiently.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04A1895-9D21-605E-4A57-CB0CF0F58678}"/>
              </a:ext>
            </a:extLst>
          </p:cNvPr>
          <p:cNvSpPr txBox="1"/>
          <p:nvPr/>
        </p:nvSpPr>
        <p:spPr>
          <a:xfrm>
            <a:off x="7000875" y="1133127"/>
            <a:ext cx="353263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Poppins" panose="00000500000000000000" pitchFamily="2" charset="0"/>
                <a:cs typeface="Poppins" panose="00000500000000000000" pitchFamily="2" charset="0"/>
              </a:rPr>
              <a:t>Use of Retrieval-Augmented Generation (RAG)</a:t>
            </a:r>
            <a:endParaRPr lang="en-IN" b="1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140317C-42BA-44B2-C21E-BABD9686A5A1}"/>
              </a:ext>
            </a:extLst>
          </p:cNvPr>
          <p:cNvSpPr txBox="1"/>
          <p:nvPr/>
        </p:nvSpPr>
        <p:spPr>
          <a:xfrm>
            <a:off x="7010403" y="1783718"/>
            <a:ext cx="5019675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500" dirty="0">
                <a:latin typeface="Poppins" panose="00000500000000000000" pitchFamily="2" charset="0"/>
                <a:cs typeface="Poppins" panose="00000500000000000000" pitchFamily="2" charset="0"/>
              </a:rPr>
              <a:t>The system integrates Retrieval-Augmented Generation (RAG) and transformer embeddings to retrieve relevant information from structured data.</a:t>
            </a:r>
            <a:endParaRPr lang="en-IN" sz="15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717A3C0-7A45-2110-5460-FE223B708C56}"/>
              </a:ext>
            </a:extLst>
          </p:cNvPr>
          <p:cNvSpPr txBox="1"/>
          <p:nvPr/>
        </p:nvSpPr>
        <p:spPr>
          <a:xfrm>
            <a:off x="552449" y="4961847"/>
            <a:ext cx="4600575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Poppins" panose="00000500000000000000" pitchFamily="2" charset="0"/>
                <a:cs typeface="Poppins" panose="00000500000000000000" pitchFamily="2" charset="0"/>
              </a:rPr>
              <a:t>AI-Based Data Interaction</a:t>
            </a:r>
            <a:br>
              <a:rPr lang="en-US" dirty="0">
                <a:latin typeface="Poppins" panose="00000500000000000000" pitchFamily="2" charset="0"/>
                <a:cs typeface="Poppins" panose="00000500000000000000" pitchFamily="2" charset="0"/>
              </a:rPr>
            </a:br>
            <a:r>
              <a:rPr lang="en-US" sz="1500" dirty="0">
                <a:latin typeface="Poppins" panose="00000500000000000000" pitchFamily="2" charset="0"/>
                <a:cs typeface="Poppins" panose="00000500000000000000" pitchFamily="2" charset="0"/>
              </a:rPr>
              <a:t>The project develops an AI-based system that allows users to interact with Excel datasets using natural language queries</a:t>
            </a:r>
            <a:r>
              <a:rPr lang="en-US" dirty="0">
                <a:latin typeface="Poppins" panose="00000500000000000000" pitchFamily="2" charset="0"/>
                <a:cs typeface="Poppins" panose="00000500000000000000" pitchFamily="2" charset="0"/>
              </a:rPr>
              <a:t>.</a:t>
            </a:r>
            <a:endParaRPr lang="en-IN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D8FB238-378A-F27D-F283-346000031506}"/>
              </a:ext>
            </a:extLst>
          </p:cNvPr>
          <p:cNvSpPr txBox="1"/>
          <p:nvPr/>
        </p:nvSpPr>
        <p:spPr>
          <a:xfrm>
            <a:off x="6286502" y="4875549"/>
            <a:ext cx="5353049" cy="13542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Poppins" panose="00000500000000000000" pitchFamily="2" charset="0"/>
                <a:cs typeface="Poppins" panose="00000500000000000000" pitchFamily="2" charset="0"/>
              </a:rPr>
              <a:t>Simplified Data Analysis</a:t>
            </a:r>
            <a:br>
              <a:rPr lang="en-US" dirty="0">
                <a:latin typeface="Poppins" panose="00000500000000000000" pitchFamily="2" charset="0"/>
                <a:cs typeface="Poppins" panose="00000500000000000000" pitchFamily="2" charset="0"/>
              </a:rPr>
            </a:br>
            <a:r>
              <a:rPr lang="en-US" sz="1600" dirty="0">
                <a:latin typeface="Poppins" panose="00000500000000000000" pitchFamily="2" charset="0"/>
                <a:cs typeface="Poppins" panose="00000500000000000000" pitchFamily="2" charset="0"/>
              </a:rPr>
              <a:t>The project aims to simplify data analysis by enabling users to discover insights from large datasets through an intelligent and user-friendly interface.</a:t>
            </a:r>
            <a:endParaRPr lang="en-IN" sz="16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C30E2D2-43C7-5C0B-7CEF-F772737FED47}"/>
              </a:ext>
            </a:extLst>
          </p:cNvPr>
          <p:cNvSpPr txBox="1"/>
          <p:nvPr/>
        </p:nvSpPr>
        <p:spPr>
          <a:xfrm>
            <a:off x="1605342" y="3308006"/>
            <a:ext cx="4752975" cy="10618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Poppins" panose="00000500000000000000" pitchFamily="2" charset="0"/>
                <a:cs typeface="Poppins" panose="00000500000000000000" pitchFamily="2" charset="0"/>
              </a:rPr>
              <a:t>Semantic Vector Embeddings</a:t>
            </a:r>
            <a:br>
              <a:rPr lang="en-US" dirty="0">
                <a:latin typeface="Poppins" panose="00000500000000000000" pitchFamily="2" charset="0"/>
                <a:cs typeface="Poppins" panose="00000500000000000000" pitchFamily="2" charset="0"/>
              </a:rPr>
            </a:br>
            <a:r>
              <a:rPr lang="en-US" sz="1500" dirty="0">
                <a:latin typeface="Poppins" panose="00000500000000000000" pitchFamily="2" charset="0"/>
                <a:cs typeface="Poppins" panose="00000500000000000000" pitchFamily="2" charset="0"/>
              </a:rPr>
              <a:t>Dataset rows are converted into semantic vector embeddings and stored in a FAISS vector database for efficient similarity search.</a:t>
            </a:r>
            <a:endParaRPr lang="en-IN" sz="15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1032" name="Picture 8">
            <a:extLst>
              <a:ext uri="{FF2B5EF4-FFF2-40B4-BE49-F238E27FC236}">
                <a16:creationId xmlns:a16="http://schemas.microsoft.com/office/drawing/2014/main" id="{B7748A0A-68B3-726B-67F6-8C2F6301E6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96030" y="2568548"/>
            <a:ext cx="5353049" cy="2307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052953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778C143B-D29C-962A-1575-EC4BF0EB43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951" y="333375"/>
            <a:ext cx="1191816" cy="1362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3">
            <a:extLst>
              <a:ext uri="{FF2B5EF4-FFF2-40B4-BE49-F238E27FC236}">
                <a16:creationId xmlns:a16="http://schemas.microsoft.com/office/drawing/2014/main" id="{F1034528-2CFA-4068-5110-2914ECFE63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5400" y="1014412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ctr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Problem Statement &amp; Solution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053" name="Picture 5">
            <a:extLst>
              <a:ext uri="{FF2B5EF4-FFF2-40B4-BE49-F238E27FC236}">
                <a16:creationId xmlns:a16="http://schemas.microsoft.com/office/drawing/2014/main" id="{5E59DFBF-01F2-77FD-581C-9AA8985EBF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3524" y="1087216"/>
            <a:ext cx="5743575" cy="5191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6">
            <a:extLst>
              <a:ext uri="{FF2B5EF4-FFF2-40B4-BE49-F238E27FC236}">
                <a16:creationId xmlns:a16="http://schemas.microsoft.com/office/drawing/2014/main" id="{CFDA6F4E-3B0E-B15E-A2F8-C5716D53A7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1951" y="4447070"/>
            <a:ext cx="3080146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ctr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Current Challenges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0EEEBB41-9E6B-800B-694A-8C2CF6AAF9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1951" y="4724440"/>
            <a:ext cx="4436269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t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Large Excel datasets lack accessibility; manual extraction requires technical queries, consuming excessive time and effort for analysis.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8">
            <a:extLst>
              <a:ext uri="{FF2B5EF4-FFF2-40B4-BE49-F238E27FC236}">
                <a16:creationId xmlns:a16="http://schemas.microsoft.com/office/drawing/2014/main" id="{71D5114D-3452-0538-70D7-DEFB3A07BA5D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8093872" y="2850031"/>
            <a:ext cx="259080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ctr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Proposed Solution</a:t>
            </a:r>
          </a:p>
        </p:txBody>
      </p:sp>
      <p:sp>
        <p:nvSpPr>
          <p:cNvPr id="6" name="Rectangle 9">
            <a:extLst>
              <a:ext uri="{FF2B5EF4-FFF2-40B4-BE49-F238E27FC236}">
                <a16:creationId xmlns:a16="http://schemas.microsoft.com/office/drawing/2014/main" id="{EBC494F9-4142-82A7-D432-494E29AA9B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1970" y="3122889"/>
            <a:ext cx="4130276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t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AI-powered RAG system enables natural language queries with semantic embeddings, FAISS database, and intelligent retrieval capabilities.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11">
            <a:extLst>
              <a:ext uri="{FF2B5EF4-FFF2-40B4-BE49-F238E27FC236}">
                <a16:creationId xmlns:a16="http://schemas.microsoft.com/office/drawing/2014/main" id="{54EC998D-A237-18B7-7ACF-84799778A1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2977" y="1635858"/>
            <a:ext cx="2409824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ctr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User Limitations</a:t>
            </a:r>
          </a:p>
        </p:txBody>
      </p:sp>
      <p:sp>
        <p:nvSpPr>
          <p:cNvPr id="9" name="Rectangle 12">
            <a:extLst>
              <a:ext uri="{FF2B5EF4-FFF2-40B4-BE49-F238E27FC236}">
                <a16:creationId xmlns:a16="http://schemas.microsoft.com/office/drawing/2014/main" id="{BE9CAC24-C2A4-9FCD-FB26-8F551F4071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2977" y="1922560"/>
            <a:ext cx="3981450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t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Non-technical users unable to analyze complex datasets efficiently using traditional spreadsheet methods and tools.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46347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636E0B55-1CD0-D86D-FB76-3652C9BDFE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951" y="333375"/>
            <a:ext cx="1191816" cy="1362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CF071804-62A6-8EC2-9FEA-E66A620918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3500" y="100012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ctr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6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System Architecture &amp; Tech Stack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EBB5E5F-AB23-0AC3-80CB-FF122F7AC8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362074"/>
            <a:ext cx="12192000" cy="5162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92144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91929CF9-6D52-64EB-08A9-252F9D3002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951" y="333375"/>
            <a:ext cx="1191816" cy="1362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E341B06B-F7BE-A59D-F97D-8A4B586545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04925" y="100965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ctr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Implementation Workflow &amp; Outputs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FC9D2D8-C389-17A9-FDB4-7D22D84440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595" y="2807047"/>
            <a:ext cx="5010849" cy="96215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B9993E2-DBAF-BB67-17FC-470D1AD92C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595" y="4133431"/>
            <a:ext cx="5010849" cy="96215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2602A25-C592-DDDE-1B90-850AF77311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596" y="1581466"/>
            <a:ext cx="5010849" cy="96215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22E30D2-9B6A-17FA-4606-32B3E8BF39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596" y="5382908"/>
            <a:ext cx="5010849" cy="96215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1567B879-2774-2CA0-1B04-CC0C2A3FA4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9046" y="1535236"/>
            <a:ext cx="5010849" cy="962159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83EFA059-2032-033F-EBE7-8F9407BC24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9046" y="2715200"/>
            <a:ext cx="5010849" cy="962159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37E7533E-1D4B-B6EC-5AC1-16820E82DC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9048" y="4077600"/>
            <a:ext cx="5010849" cy="962159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BE1B4B39-65F1-C7A0-C894-278B61AB84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9047" y="5324227"/>
            <a:ext cx="5010849" cy="962159"/>
          </a:xfrm>
          <a:prstGeom prst="rect">
            <a:avLst/>
          </a:prstGeom>
        </p:spPr>
      </p:pic>
      <p:sp>
        <p:nvSpPr>
          <p:cNvPr id="22" name="Rectangle 2">
            <a:extLst>
              <a:ext uri="{FF2B5EF4-FFF2-40B4-BE49-F238E27FC236}">
                <a16:creationId xmlns:a16="http://schemas.microsoft.com/office/drawing/2014/main" id="{DAD0E471-B87B-9B22-48CD-8BB85E4C3F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5825" y="1814659"/>
            <a:ext cx="3305175" cy="6001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ctr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5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Step 1: Data Ingestion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0C200364-2508-B35B-E708-57DB7F5F365F}"/>
              </a:ext>
            </a:extLst>
          </p:cNvPr>
          <p:cNvCxnSpPr>
            <a:cxnSpLocks/>
          </p:cNvCxnSpPr>
          <p:nvPr/>
        </p:nvCxnSpPr>
        <p:spPr>
          <a:xfrm>
            <a:off x="3182112" y="1695450"/>
            <a:ext cx="0" cy="67703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ctangle 4">
            <a:extLst>
              <a:ext uri="{FF2B5EF4-FFF2-40B4-BE49-F238E27FC236}">
                <a16:creationId xmlns:a16="http://schemas.microsoft.com/office/drawing/2014/main" id="{644E8EB0-8A24-F1AA-2C8A-65980DBB7C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27833" y="1716589"/>
            <a:ext cx="2525612" cy="6001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t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Upload Excel dataset through frontend interface for processing and system integration.</a:t>
            </a: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64EC3C3B-D99B-23AA-CE14-2DA2A49E30CD}"/>
              </a:ext>
            </a:extLst>
          </p:cNvPr>
          <p:cNvCxnSpPr>
            <a:cxnSpLocks/>
          </p:cNvCxnSpPr>
          <p:nvPr/>
        </p:nvCxnSpPr>
        <p:spPr>
          <a:xfrm>
            <a:off x="3160776" y="2914855"/>
            <a:ext cx="0" cy="67703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8023E215-EF1F-BBED-308E-D5353539AD36}"/>
              </a:ext>
            </a:extLst>
          </p:cNvPr>
          <p:cNvCxnSpPr>
            <a:cxnSpLocks/>
          </p:cNvCxnSpPr>
          <p:nvPr/>
        </p:nvCxnSpPr>
        <p:spPr>
          <a:xfrm>
            <a:off x="3182112" y="4289298"/>
            <a:ext cx="0" cy="67703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13B53EBB-1435-5B25-9DCD-E3F7E994420E}"/>
              </a:ext>
            </a:extLst>
          </p:cNvPr>
          <p:cNvCxnSpPr>
            <a:cxnSpLocks/>
          </p:cNvCxnSpPr>
          <p:nvPr/>
        </p:nvCxnSpPr>
        <p:spPr>
          <a:xfrm>
            <a:off x="3176016" y="5525469"/>
            <a:ext cx="0" cy="67703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8D134F8B-3A0B-B927-B8D2-59075F933962}"/>
              </a:ext>
            </a:extLst>
          </p:cNvPr>
          <p:cNvCxnSpPr>
            <a:cxnSpLocks/>
          </p:cNvCxnSpPr>
          <p:nvPr/>
        </p:nvCxnSpPr>
        <p:spPr>
          <a:xfrm>
            <a:off x="8784336" y="1666398"/>
            <a:ext cx="0" cy="67703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DEA3C43A-AE74-30F4-E54D-546A1CBF700C}"/>
              </a:ext>
            </a:extLst>
          </p:cNvPr>
          <p:cNvCxnSpPr>
            <a:cxnSpLocks/>
          </p:cNvCxnSpPr>
          <p:nvPr/>
        </p:nvCxnSpPr>
        <p:spPr>
          <a:xfrm>
            <a:off x="8711184" y="2844720"/>
            <a:ext cx="0" cy="67703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3A0D3BE1-95F6-B95D-21C0-A14F87DFCD4B}"/>
              </a:ext>
            </a:extLst>
          </p:cNvPr>
          <p:cNvCxnSpPr>
            <a:cxnSpLocks/>
          </p:cNvCxnSpPr>
          <p:nvPr/>
        </p:nvCxnSpPr>
        <p:spPr>
          <a:xfrm>
            <a:off x="8799567" y="4220161"/>
            <a:ext cx="0" cy="67703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18FA7FDF-A6CD-ADB7-90C9-4F377D34586D}"/>
              </a:ext>
            </a:extLst>
          </p:cNvPr>
          <p:cNvCxnSpPr>
            <a:cxnSpLocks/>
          </p:cNvCxnSpPr>
          <p:nvPr/>
        </p:nvCxnSpPr>
        <p:spPr>
          <a:xfrm>
            <a:off x="8689848" y="5495057"/>
            <a:ext cx="0" cy="67703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Rectangle 5">
            <a:extLst>
              <a:ext uri="{FF2B5EF4-FFF2-40B4-BE49-F238E27FC236}">
                <a16:creationId xmlns:a16="http://schemas.microsoft.com/office/drawing/2014/main" id="{89653FB4-0605-7072-99CF-F6470157DB2D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6817216" y="1666398"/>
            <a:ext cx="288036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ctr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Step 2: Data </a:t>
            </a:r>
          </a:p>
          <a:p>
            <a:pPr marL="0" marR="0" lvl="0" indent="0" algn="l" defTabSz="914400" rtl="0" eaLnBrk="0" fontAlgn="ctr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Preprocessing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7" name="Rectangle 6">
            <a:extLst>
              <a:ext uri="{FF2B5EF4-FFF2-40B4-BE49-F238E27FC236}">
                <a16:creationId xmlns:a16="http://schemas.microsoft.com/office/drawing/2014/main" id="{E58F2CDA-3768-2F5A-E9D8-B50A10521E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39783" y="1680629"/>
            <a:ext cx="2880345" cy="6001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t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Preprocess dataset rows and convert to textual format for embedding generation.</a:t>
            </a: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8" name="Rectangle 7">
            <a:extLst>
              <a:ext uri="{FF2B5EF4-FFF2-40B4-BE49-F238E27FC236}">
                <a16:creationId xmlns:a16="http://schemas.microsoft.com/office/drawing/2014/main" id="{553CDC43-010E-BAF8-F78C-DEBDA76DB373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885825" y="2885859"/>
            <a:ext cx="2527551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ctr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5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Step 3: Embedding Generation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9" name="Rectangle 8">
            <a:extLst>
              <a:ext uri="{FF2B5EF4-FFF2-40B4-BE49-F238E27FC236}">
                <a16:creationId xmlns:a16="http://schemas.microsoft.com/office/drawing/2014/main" id="{09D5FA0B-E8FA-9DA0-D1DC-88F84C3255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25892" y="2921592"/>
            <a:ext cx="2440307" cy="6001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t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Generate embeddings using transformer model, specifically Sentence-BERT architecture.</a:t>
            </a: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0" name="Rectangle 9">
            <a:extLst>
              <a:ext uri="{FF2B5EF4-FFF2-40B4-BE49-F238E27FC236}">
                <a16:creationId xmlns:a16="http://schemas.microsoft.com/office/drawing/2014/main" id="{5B7850D7-1160-05A8-540A-46FEF96A55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02552" y="2895625"/>
            <a:ext cx="2237229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ctr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Step 4: Vector Storage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1" name="Rectangle 10">
            <a:extLst>
              <a:ext uri="{FF2B5EF4-FFF2-40B4-BE49-F238E27FC236}">
                <a16:creationId xmlns:a16="http://schemas.microsoft.com/office/drawing/2014/main" id="{DF23F485-8BFF-2713-980B-6C606AA0766F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8799567" y="2848373"/>
            <a:ext cx="3160776" cy="6001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t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Store embeddings in FAISS vector database for efficient indexing and retrieval.</a:t>
            </a: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2" name="Rectangle 11">
            <a:extLst>
              <a:ext uri="{FF2B5EF4-FFF2-40B4-BE49-F238E27FC236}">
                <a16:creationId xmlns:a16="http://schemas.microsoft.com/office/drawing/2014/main" id="{0917CA0C-9F71-C509-0B35-A8EC0FC520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5824" y="4411487"/>
            <a:ext cx="2185416" cy="6001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ctr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Step 5: Query Input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3" name="Rectangle 12">
            <a:extLst>
              <a:ext uri="{FF2B5EF4-FFF2-40B4-BE49-F238E27FC236}">
                <a16:creationId xmlns:a16="http://schemas.microsoft.com/office/drawing/2014/main" id="{D9E3C0A5-536E-9F6A-C395-9BD7FCA0BD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92985" y="4258597"/>
            <a:ext cx="2487168" cy="6001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t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Accept natural language query from user through interactive dashboard interface.</a:t>
            </a: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4" name="Rectangle 13">
            <a:extLst>
              <a:ext uri="{FF2B5EF4-FFF2-40B4-BE49-F238E27FC236}">
                <a16:creationId xmlns:a16="http://schemas.microsoft.com/office/drawing/2014/main" id="{04B70D9D-AF77-0E79-7AF4-6C009AAA2D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17216" y="4283427"/>
            <a:ext cx="2299333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ctr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5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Step 6: Similarity Retrieval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5" name="Rectangle 14">
            <a:extLst>
              <a:ext uri="{FF2B5EF4-FFF2-40B4-BE49-F238E27FC236}">
                <a16:creationId xmlns:a16="http://schemas.microsoft.com/office/drawing/2014/main" id="{482F8B24-89C4-5F93-60D3-D9DD5ADFDD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2196" y="4235942"/>
            <a:ext cx="2404872" cy="6001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t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Retrieve relevant rows using similarity search and ranking algorithms.</a:t>
            </a: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6" name="Rectangle 15">
            <a:extLst>
              <a:ext uri="{FF2B5EF4-FFF2-40B4-BE49-F238E27FC236}">
                <a16:creationId xmlns:a16="http://schemas.microsoft.com/office/drawing/2014/main" id="{2FC05AF1-0CE1-B1B5-6A39-6E5B0643BA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7859" y="5597322"/>
            <a:ext cx="2734056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ctr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Step 7: Response Generation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7" name="Rectangle 16">
            <a:extLst>
              <a:ext uri="{FF2B5EF4-FFF2-40B4-BE49-F238E27FC236}">
                <a16:creationId xmlns:a16="http://schemas.microsoft.com/office/drawing/2014/main" id="{BFAD2DAD-3456-D6FE-4763-A67E34429D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56766" y="5525469"/>
            <a:ext cx="2378557" cy="6001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t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Generate AI response using RAG pipeline with supporting dataset rows and scores.</a:t>
            </a: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8" name="Rectangle 17">
            <a:extLst>
              <a:ext uri="{FF2B5EF4-FFF2-40B4-BE49-F238E27FC236}">
                <a16:creationId xmlns:a16="http://schemas.microsoft.com/office/drawing/2014/main" id="{9E5638C0-E048-C76F-31CD-C44711053D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02552" y="5563905"/>
            <a:ext cx="2295144" cy="6001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ctr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5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Output Delivery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9" name="Rectangle 18">
            <a:extLst>
              <a:ext uri="{FF2B5EF4-FFF2-40B4-BE49-F238E27FC236}">
                <a16:creationId xmlns:a16="http://schemas.microsoft.com/office/drawing/2014/main" id="{32FB5511-737D-B233-C98F-107B1A5517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46196" y="5402652"/>
            <a:ext cx="2724912" cy="769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t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Provide AI-generated answers, supporting rows, similarity scores, and interactive visualization dashboard.</a:t>
            </a: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45644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ACCF4EC8-CC37-9A83-A2EB-8B33629B6D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951" y="333375"/>
            <a:ext cx="1191816" cy="1362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3755579-E5C2-3559-50B2-19625DFA2CB3}"/>
              </a:ext>
            </a:extLst>
          </p:cNvPr>
          <p:cNvSpPr txBox="1"/>
          <p:nvPr/>
        </p:nvSpPr>
        <p:spPr>
          <a:xfrm>
            <a:off x="1280160" y="557784"/>
            <a:ext cx="70957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>
                <a:latin typeface="Poppins" panose="00000500000000000000" pitchFamily="2" charset="0"/>
                <a:cs typeface="Poppins" panose="00000500000000000000" pitchFamily="2" charset="0"/>
              </a:rPr>
              <a:t>Deployment &amp; Links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E30DFBC-4B45-74D3-96E0-1446D11E765C}"/>
              </a:ext>
            </a:extLst>
          </p:cNvPr>
          <p:cNvSpPr txBox="1"/>
          <p:nvPr/>
        </p:nvSpPr>
        <p:spPr>
          <a:xfrm>
            <a:off x="566571" y="1387119"/>
            <a:ext cx="43982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Poppins" panose="00000500000000000000" pitchFamily="2" charset="0"/>
                <a:cs typeface="Poppins" panose="00000500000000000000" pitchFamily="2" charset="0"/>
              </a:rPr>
              <a:t>Output Screenshots: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2FEDD9F-7A19-C900-28E7-CD2B315DF67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6571" y="1756451"/>
            <a:ext cx="4669027" cy="260625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C5EC149-4874-5267-5A3A-D3A7CB34C50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38520" y="1554265"/>
            <a:ext cx="6318974" cy="282161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E411C9C8-D320-5B69-C773-2D6468515E74}"/>
              </a:ext>
            </a:extLst>
          </p:cNvPr>
          <p:cNvSpPr txBox="1"/>
          <p:nvPr/>
        </p:nvSpPr>
        <p:spPr>
          <a:xfrm>
            <a:off x="447038" y="4593718"/>
            <a:ext cx="11083545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n-IN" sz="1800" b="1" dirty="0">
                <a:effectLst/>
                <a:latin typeface="Poppins" panose="00000500000000000000" pitchFamily="2" charset="0"/>
                <a:ea typeface="SimSun" panose="02010600030101010101" pitchFamily="2" charset="-122"/>
                <a:cs typeface="Poppins" panose="00000500000000000000" pitchFamily="2" charset="0"/>
              </a:rPr>
              <a:t>GitHub Repository</a:t>
            </a:r>
            <a:endParaRPr lang="en-IN" sz="1800" dirty="0">
              <a:effectLst/>
              <a:latin typeface="Poppins" panose="00000500000000000000" pitchFamily="2" charset="0"/>
              <a:ea typeface="SimSun" panose="02010600030101010101" pitchFamily="2" charset="-122"/>
              <a:cs typeface="Poppins" panose="00000500000000000000" pitchFamily="2" charset="0"/>
            </a:endParaRPr>
          </a:p>
          <a:p>
            <a:pPr algn="just">
              <a:buNone/>
            </a:pPr>
            <a:r>
              <a:rPr lang="en-IN" sz="1800" dirty="0">
                <a:effectLst/>
                <a:latin typeface="Poppins" panose="00000500000000000000" pitchFamily="2" charset="0"/>
                <a:ea typeface="SimSun" panose="02010600030101010101" pitchFamily="2" charset="-122"/>
                <a:cs typeface="Poppins" panose="00000500000000000000" pitchFamily="2" charset="0"/>
              </a:rPr>
              <a:t>The complete implementation of this project is available on GitHub.</a:t>
            </a:r>
          </a:p>
          <a:p>
            <a:pPr algn="l">
              <a:buNone/>
            </a:pPr>
            <a:r>
              <a:rPr lang="en-IN" sz="1800" dirty="0">
                <a:effectLst/>
                <a:latin typeface="Poppins" panose="00000500000000000000" pitchFamily="2" charset="0"/>
                <a:ea typeface="SimSun" panose="02010600030101010101" pitchFamily="2" charset="-122"/>
                <a:cs typeface="Poppins" panose="00000500000000000000" pitchFamily="2" charset="0"/>
              </a:rPr>
              <a:t>Repository Link:  </a:t>
            </a:r>
            <a:r>
              <a:rPr lang="en-IN" sz="1800" u="sng" dirty="0">
                <a:solidFill>
                  <a:srgbClr val="0563C1"/>
                </a:solidFill>
                <a:effectLst/>
                <a:latin typeface="Poppins" panose="00000500000000000000" pitchFamily="2" charset="0"/>
                <a:ea typeface="SimSun" panose="02010600030101010101" pitchFamily="2" charset="-122"/>
                <a:cs typeface="Poppins" panose="00000500000000000000" pitchFamily="2" charset="0"/>
                <a:hlinkClick r:id="rId5"/>
              </a:rPr>
              <a:t>https://github.com/Devadharshani13/RAG-Enabled-Transformer-Embedding-System-for-Intelligent-Knowledge-Discovery-from-Excel-Datasets</a:t>
            </a:r>
            <a:endParaRPr lang="en-IN" sz="1800" dirty="0">
              <a:effectLst/>
              <a:latin typeface="Poppins" panose="00000500000000000000" pitchFamily="2" charset="0"/>
              <a:ea typeface="SimSun" panose="02010600030101010101" pitchFamily="2" charset="-122"/>
              <a:cs typeface="Poppins" panose="00000500000000000000" pitchFamily="2" charset="0"/>
            </a:endParaRPr>
          </a:p>
          <a:p>
            <a:pPr algn="just">
              <a:buNone/>
            </a:pPr>
            <a:r>
              <a:rPr lang="en-IN" sz="1800" dirty="0">
                <a:effectLst/>
                <a:latin typeface="Poppins" panose="00000500000000000000" pitchFamily="2" charset="0"/>
                <a:ea typeface="SimSun" panose="02010600030101010101" pitchFamily="2" charset="-122"/>
                <a:cs typeface="Poppins" panose="00000500000000000000" pitchFamily="2" charset="0"/>
              </a:rPr>
              <a:t>Recording Link:</a:t>
            </a:r>
          </a:p>
          <a:p>
            <a:pPr algn="just">
              <a:buNone/>
            </a:pPr>
            <a:r>
              <a:rPr lang="en-IN" sz="1800" u="sng" dirty="0">
                <a:solidFill>
                  <a:srgbClr val="0563C1"/>
                </a:solidFill>
                <a:effectLst/>
                <a:latin typeface="Poppins" panose="00000500000000000000" pitchFamily="2" charset="0"/>
                <a:ea typeface="SimSun" panose="02010600030101010101" pitchFamily="2" charset="-122"/>
                <a:cs typeface="Poppins" panose="00000500000000000000" pitchFamily="2" charset="0"/>
                <a:hlinkClick r:id="rId6"/>
              </a:rPr>
              <a:t>https://drive.google.com/drive/folders/162DS-9GO93HZHb6BsHi2iREF2oodOkbz?usp=sharing</a:t>
            </a:r>
            <a:endParaRPr lang="en-IN" sz="1800" dirty="0">
              <a:effectLst/>
              <a:latin typeface="Poppins" panose="00000500000000000000" pitchFamily="2" charset="0"/>
              <a:ea typeface="SimSun" panose="02010600030101010101" pitchFamily="2" charset="-122"/>
              <a:cs typeface="Poppi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45956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C8BE351F-B914-CBD1-7246-F6D145179A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951" y="333375"/>
            <a:ext cx="1191816" cy="1362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2CF442D9-63B8-5809-9BC1-4A02A9DDD4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43584" y="969264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ctr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6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Challenges &amp; Solutions Overview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9AE2170-FB8A-D5C5-D763-B96EADF511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308" y="1496620"/>
            <a:ext cx="10774279" cy="4706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40003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A702CFFA-38FD-3C92-C13A-29860576DE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951" y="333375"/>
            <a:ext cx="1191816" cy="1362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6720FF19-011C-8036-CF16-32DE21A4AA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43584" y="969264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ctr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Feasibility, Impact &amp; Research Foundation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147" name="Picture 3">
            <a:extLst>
              <a:ext uri="{FF2B5EF4-FFF2-40B4-BE49-F238E27FC236}">
                <a16:creationId xmlns:a16="http://schemas.microsoft.com/office/drawing/2014/main" id="{CA51F419-399E-B49B-1829-2E5942B650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503" y="1473511"/>
            <a:ext cx="2895600" cy="5191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9" name="Picture 5">
            <a:extLst>
              <a:ext uri="{FF2B5EF4-FFF2-40B4-BE49-F238E27FC236}">
                <a16:creationId xmlns:a16="http://schemas.microsoft.com/office/drawing/2014/main" id="{44874FAD-6C3D-F7A5-1F26-9AA0E2810E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51275" y="1473512"/>
            <a:ext cx="2895600" cy="5191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1" name="Picture 7">
            <a:extLst>
              <a:ext uri="{FF2B5EF4-FFF2-40B4-BE49-F238E27FC236}">
                <a16:creationId xmlns:a16="http://schemas.microsoft.com/office/drawing/2014/main" id="{B2E433E7-C4F2-CD6D-13F3-B0FC37B600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51065" y="1473510"/>
            <a:ext cx="2895600" cy="5191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3" name="Picture 9">
            <a:extLst>
              <a:ext uri="{FF2B5EF4-FFF2-40B4-BE49-F238E27FC236}">
                <a16:creationId xmlns:a16="http://schemas.microsoft.com/office/drawing/2014/main" id="{6FC640A5-B79C-1ADB-8C47-00AFFA59CC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89897" y="1473513"/>
            <a:ext cx="2895600" cy="5191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10">
            <a:extLst>
              <a:ext uri="{FF2B5EF4-FFF2-40B4-BE49-F238E27FC236}">
                <a16:creationId xmlns:a16="http://schemas.microsoft.com/office/drawing/2014/main" id="{8045516A-1B65-629F-A985-3F1A826B62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14975" y="1653540"/>
            <a:ext cx="2066544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ctr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Impact &amp; Benefits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F0F40A7-C4A4-55CC-191A-687D7B243BB3}"/>
              </a:ext>
            </a:extLst>
          </p:cNvPr>
          <p:cNvSpPr txBox="1"/>
          <p:nvPr/>
        </p:nvSpPr>
        <p:spPr>
          <a:xfrm>
            <a:off x="985863" y="1653540"/>
            <a:ext cx="15011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ctr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Feasibility</a:t>
            </a:r>
          </a:p>
        </p:txBody>
      </p:sp>
      <p:sp>
        <p:nvSpPr>
          <p:cNvPr id="7" name="Rectangle 11">
            <a:extLst>
              <a:ext uri="{FF2B5EF4-FFF2-40B4-BE49-F238E27FC236}">
                <a16:creationId xmlns:a16="http://schemas.microsoft.com/office/drawing/2014/main" id="{BE8039FA-CEBA-7F7D-A332-3AD924A2C1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9719" y="2193512"/>
            <a:ext cx="2389798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t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Leverages open-source AI technologies with minimal infrastructure requirements and scalable architecture for future cloud deployment.</a:t>
            </a:r>
            <a:endParaRPr kumimoji="0" lang="en-US" altLang="en-US" sz="1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12">
            <a:extLst>
              <a:ext uri="{FF2B5EF4-FFF2-40B4-BE49-F238E27FC236}">
                <a16:creationId xmlns:a16="http://schemas.microsoft.com/office/drawing/2014/main" id="{8E01AFCB-1169-4B71-9178-90958D947D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05319" y="2172122"/>
            <a:ext cx="2487027" cy="17081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t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Reduces manual effort by eighty percent, improves decision-making through instant insights, democratizes data access for non-technical users.</a:t>
            </a:r>
            <a:endParaRPr kumimoji="0" lang="en-US" altLang="en-US" sz="1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Rectangle 13">
            <a:extLst>
              <a:ext uri="{FF2B5EF4-FFF2-40B4-BE49-F238E27FC236}">
                <a16:creationId xmlns:a16="http://schemas.microsoft.com/office/drawing/2014/main" id="{EB4A5DA3-798B-9FE2-66F2-26DDF1A492F2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6569046" y="1653540"/>
            <a:ext cx="247396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ctr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1" i="0" u="non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Research Foundation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400" b="0" i="0" u="non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Rectangle 14">
            <a:extLst>
              <a:ext uri="{FF2B5EF4-FFF2-40B4-BE49-F238E27FC236}">
                <a16:creationId xmlns:a16="http://schemas.microsoft.com/office/drawing/2014/main" id="{5B12D0AA-9292-A3F7-DB19-04CF78BC10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24470" y="2193512"/>
            <a:ext cx="2348789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t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Built on Retrieval-Augmented Generation, Sentence-BERT embeddings, and FAISS Vector Search providing state-of-the-art retrieval capabilities.</a:t>
            </a:r>
            <a:endParaRPr kumimoji="0" lang="en-US" altLang="en-US" sz="1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Rectangle 15">
            <a:extLst>
              <a:ext uri="{FF2B5EF4-FFF2-40B4-BE49-F238E27FC236}">
                <a16:creationId xmlns:a16="http://schemas.microsoft.com/office/drawing/2014/main" id="{5AAA51D3-A97B-F85C-B4D0-13F5BF950B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30499" y="1676822"/>
            <a:ext cx="3151275" cy="6155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ctr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Key Achievement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2" name="Rectangle 16">
            <a:extLst>
              <a:ext uri="{FF2B5EF4-FFF2-40B4-BE49-F238E27FC236}">
                <a16:creationId xmlns:a16="http://schemas.microsoft.com/office/drawing/2014/main" id="{6BAD47F6-A23D-B782-F2A9-BD88E2C869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28842" y="2225983"/>
            <a:ext cx="2387439" cy="160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t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Demonstrates practical application of transformer embeddings and vector databases in real-world enterprise data analysis scenarios.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162" name="Picture 18">
            <a:extLst>
              <a:ext uri="{FF2B5EF4-FFF2-40B4-BE49-F238E27FC236}">
                <a16:creationId xmlns:a16="http://schemas.microsoft.com/office/drawing/2014/main" id="{F4E117B6-38A3-C49A-CBDB-D81D586B9A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5960" y="4303144"/>
            <a:ext cx="2561668" cy="18500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64" name="Picture 20">
            <a:extLst>
              <a:ext uri="{FF2B5EF4-FFF2-40B4-BE49-F238E27FC236}">
                <a16:creationId xmlns:a16="http://schemas.microsoft.com/office/drawing/2014/main" id="{DD93A5FA-65DE-0983-79CA-86ABE54DDD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82879" y="4432991"/>
            <a:ext cx="2232392" cy="15903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66" name="Picture 22">
            <a:extLst>
              <a:ext uri="{FF2B5EF4-FFF2-40B4-BE49-F238E27FC236}">
                <a16:creationId xmlns:a16="http://schemas.microsoft.com/office/drawing/2014/main" id="{A23CDCDF-5AD8-E55F-18AC-ABF6A1720E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9693" y="4539994"/>
            <a:ext cx="2579416" cy="16132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68" name="Picture 24">
            <a:extLst>
              <a:ext uri="{FF2B5EF4-FFF2-40B4-BE49-F238E27FC236}">
                <a16:creationId xmlns:a16="http://schemas.microsoft.com/office/drawing/2014/main" id="{0E263158-FE71-D555-B288-A7E16DBD03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47737" y="4384529"/>
            <a:ext cx="2694036" cy="18399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894881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C391BF4-C078-B41D-AC04-152B2340DD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5024" y="552747"/>
            <a:ext cx="8869680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ctr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Conclusion &amp; Future Outlook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C2E4B0D-8313-710B-E10F-42158DFFB6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951" y="333375"/>
            <a:ext cx="1191816" cy="1362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8DB074E-94F3-B9A8-A8D7-F79A6429FB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478429"/>
            <a:ext cx="10543032" cy="5379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55403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497</Words>
  <Application>Microsoft Office PowerPoint</Application>
  <PresentationFormat>Widescreen</PresentationFormat>
  <Paragraphs>57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Calibri</vt:lpstr>
      <vt:lpstr>Calibri Light</vt:lpstr>
      <vt:lpstr>Poppins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SRIRAM B</dc:creator>
  <cp:lastModifiedBy>devadharshani B</cp:lastModifiedBy>
  <cp:revision>2</cp:revision>
  <dcterms:created xsi:type="dcterms:W3CDTF">2026-03-13T19:16:57Z</dcterms:created>
  <dcterms:modified xsi:type="dcterms:W3CDTF">2026-03-28T12:58:33Z</dcterms:modified>
</cp:coreProperties>
</file>